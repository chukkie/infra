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Pipelines &amp; Automation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Current</c:v>
                </c:pt>
                <c:pt idx="2">
                  <c:v>Next 60 Days</c:v>
                </c:pt>
                <c:pt idx="3">
                  <c:v>Target State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50</c:v>
                </c:pt>
                <c:pt idx="2">
                  <c:v>65</c:v>
                </c:pt>
                <c:pt idx="3">
                  <c:v>85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Security Scanning &amp; Remediation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Current</c:v>
                </c:pt>
                <c:pt idx="2">
                  <c:v>Next 60 Days</c:v>
                </c:pt>
                <c:pt idx="3">
                  <c:v>Target State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25</c:v>
                </c:pt>
                <c:pt idx="1">
                  <c:v>45</c:v>
                </c:pt>
                <c:pt idx="2">
                  <c:v>60</c:v>
                </c:pt>
                <c:pt idx="3">
                  <c:v>80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Configuration &amp; Governance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Current</c:v>
                </c:pt>
                <c:pt idx="2">
                  <c:v>Next 60 Days</c:v>
                </c:pt>
                <c:pt idx="3">
                  <c:v>Target State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20</c:v>
                </c:pt>
                <c:pt idx="1">
                  <c:v>40</c:v>
                </c:pt>
                <c:pt idx="2">
                  <c:v>60</c:v>
                </c:pt>
                <c:pt idx="3">
                  <c:v>85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CMP (Current → Next)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Current</c:v>
                </c:pt>
                <c:pt idx="2">
                  <c:v>Next 60 Days</c:v>
                </c:pt>
                <c:pt idx="3">
                  <c:v>Target State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35</c:v>
                </c:pt>
                <c:pt idx="1">
                  <c:v>55</c:v>
                </c:pt>
                <c:pt idx="2">
                  <c:v>70</c:v>
                </c:pt>
                <c:pt idx="3">
                  <c:v>90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CTO Platform, Security &amp; CMP NEXT Status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Derived directly from CTO notes and Azure DevOps correction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CTO Focus Areas (From Notes)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Configuration Management (CCN / TS)</a:t>
            </a:r>
          </a:p>
          <a:p>
            <a:r>
              <a:t>Disaster Recovery implementation (TS)</a:t>
            </a:r>
          </a:p>
          <a:p>
            <a:r>
              <a:t>Pipeline implementation (TS)</a:t>
            </a:r>
          </a:p>
          <a:p>
            <a:r>
              <a:t>Application security scans (CCN / TS)</a:t>
            </a:r>
          </a:p>
          <a:p>
            <a:r>
              <a:t>Third-party application patching</a:t>
            </a:r>
          </a:p>
          <a:p>
            <a:r>
              <a:t>Monitoring (TS / CCN)</a:t>
            </a:r>
          </a:p>
          <a:p>
            <a:r>
              <a:t>Headcount gaps across CCN &amp; TS</a:t>
            </a:r>
          </a:p>
          <a:p>
            <a:r>
              <a:t>CMP (current) and CMP NEXT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Ownership &amp; Accountability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87680">
                <a:tc>
                  <a:txBody>
                    <a:bodyPr/>
                    <a:lstStyle/>
                    <a:p>
                      <a:r>
                        <a:t>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CCN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t>Configuration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Shared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Shared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Standards partially enforced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t>DR Implementation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progress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t>Pipelines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Push / Push+Pull observed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t>App Security Scans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Shared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Shared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SonarQube / Checkmarx uneven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t>3rd Party Patching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 gaps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t>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Shared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Shared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Present but inconsistent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t>CMP (Current)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Deploy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Operational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t>CMP NEXT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Implement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Pipeline-driven provisioning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Projects in Scope – T5 (Observed)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31006">
                <a:tc>
                  <a:txBody>
                    <a:bodyPr/>
                    <a:lstStyle/>
                    <a:p>
                      <a:r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Project</a:t>
                      </a:r>
                    </a:p>
                  </a:txBody>
                  <a:tcPr/>
                </a:tc>
              </a:tr>
              <a:tr h="231006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API</a:t>
                      </a:r>
                    </a:p>
                  </a:txBody>
                  <a:tcPr/>
                </a:tc>
              </a:tr>
              <a:tr h="231006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CareRadius</a:t>
                      </a:r>
                    </a:p>
                  </a:txBody>
                  <a:tcPr/>
                </a:tc>
              </a:tr>
              <a:tr h="231006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Data Analytics</a:t>
                      </a:r>
                    </a:p>
                  </a:txBody>
                  <a:tcPr/>
                </a:tc>
              </a:tr>
              <a:tr h="231006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Data Visualization</a:t>
                      </a:r>
                    </a:p>
                  </a:txBody>
                  <a:tcPr/>
                </a:tc>
              </a:tr>
              <a:tr h="231006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Document Management</a:t>
                      </a:r>
                    </a:p>
                  </a:txBody>
                  <a:tcPr/>
                </a:tc>
              </a:tr>
              <a:tr h="231006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EDIFECS</a:t>
                      </a:r>
                    </a:p>
                  </a:txBody>
                  <a:tcPr/>
                </a:tc>
              </a:tr>
              <a:tr h="231006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EDP</a:t>
                      </a:r>
                    </a:p>
                  </a:txBody>
                  <a:tcPr/>
                </a:tc>
              </a:tr>
              <a:tr h="231006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HHI</a:t>
                      </a:r>
                    </a:p>
                  </a:txBody>
                  <a:tcPr/>
                </a:tc>
              </a:tr>
              <a:tr h="231006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Infrastructure</a:t>
                      </a:r>
                    </a:p>
                  </a:txBody>
                  <a:tcPr/>
                </a:tc>
              </a:tr>
              <a:tr h="231006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MCCK Tool</a:t>
                      </a:r>
                    </a:p>
                  </a:txBody>
                  <a:tcPr/>
                </a:tc>
              </a:tr>
              <a:tr h="231006"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Monitoring</a:t>
                      </a:r>
                    </a:p>
                  </a:txBody>
                  <a:tcPr/>
                </a:tc>
              </a:tr>
              <a:tr h="231006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Power Portals</a:t>
                      </a:r>
                    </a:p>
                  </a:txBody>
                  <a:tcPr/>
                </a:tc>
              </a:tr>
              <a:tr h="231006"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RADS</a:t>
                      </a:r>
                    </a:p>
                  </a:txBody>
                  <a:tcPr/>
                </a:tc>
              </a:tr>
              <a:tr h="231006"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SailPoint</a:t>
                      </a:r>
                    </a:p>
                  </a:txBody>
                  <a:tcPr/>
                </a:tc>
              </a:tr>
              <a:tr h="231006"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TriWest DevOps</a:t>
                      </a:r>
                    </a:p>
                  </a:txBody>
                  <a:tcPr/>
                </a:tc>
              </a:tr>
              <a:tr h="231006"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Vantage</a:t>
                      </a:r>
                    </a:p>
                  </a:txBody>
                  <a:tcPr/>
                </a:tc>
              </a:tr>
              <a:tr h="231006">
                <a:tc>
                  <a:txBody>
                    <a:bodyPr/>
                    <a:lstStyle/>
                    <a:p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VBSM</a:t>
                      </a:r>
                    </a:p>
                  </a:txBody>
                  <a:tcPr/>
                </a:tc>
              </a:tr>
              <a:tr h="231012"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xTrakto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&amp; Automation Maturity (Observed)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731520">
                <a:tc>
                  <a:txBody>
                    <a:bodyPr/>
                    <a:lstStyle/>
                    <a:p>
                      <a:r>
                        <a:t>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Finding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Pipelines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Most projects use Push; limited PR gating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Automation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Ranges from 5% to 75%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Branching 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Often missing or not enforced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Approvals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Environment approvals frequently missing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Governance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Standards documented but not enforced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Scanning Coverage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731520">
                <a:tc>
                  <a:txBody>
                    <a:bodyPr/>
                    <a:lstStyle/>
                    <a:p>
                      <a:r>
                        <a:t>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Current State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SonarQube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Present on some projects/APIs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Checkmarx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Present on select APIs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API-level Scanning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Multiple APIs per project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Remediation Tracking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centralized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Third-party Apps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 gaps identified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Remediation Ownership Model (From Notes)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CCN: remediation by project</a:t>
            </a:r>
          </a:p>
          <a:p>
            <a:r>
              <a:t>TS: remediation by project</a:t>
            </a:r>
          </a:p>
          <a:p>
            <a:r>
              <a:t>Lack of centralized tracking causing delays</a:t>
            </a:r>
          </a:p>
          <a:p>
            <a:r>
              <a:t>Need for unified remediation SLA and reporting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CMP NEXT – Target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Pipeline-driven resource provisioning</a:t>
            </a:r>
          </a:p>
          <a:p>
            <a:r>
              <a:t>Provisioning resources by count</a:t>
            </a:r>
          </a:p>
          <a:p>
            <a:r>
              <a:t>Configuration enforcement at deploy time</a:t>
            </a:r>
          </a:p>
          <a:p>
            <a:r>
              <a:t>Measured outputs: resources provisioned, VMs patched per month</a:t>
            </a:r>
          </a:p>
          <a:p>
            <a:r>
              <a:t>Supports FedRAMP continuous monitoring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Metrics Requested by 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resources provisioned (by count)</a:t>
            </a:r>
          </a:p>
          <a:p>
            <a:r>
              <a:t>Total VMs patched per month</a:t>
            </a:r>
          </a:p>
          <a:p>
            <a:r>
              <a:t>Project count per contract (T5 / CCN)</a:t>
            </a:r>
          </a:p>
          <a:p>
            <a:r>
              <a:t>Projects with pipelines, PR approvals, monitoring</a:t>
            </a:r>
          </a:p>
          <a:p>
            <a:r>
              <a:t>APIs scanned via SonarQube and Checkmarx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Gaps &amp;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Headcount gaps across CCN and TS</a:t>
            </a:r>
          </a:p>
          <a:p>
            <a:r>
              <a:t>Inconsistent enforcement of standards</a:t>
            </a:r>
          </a:p>
          <a:p>
            <a:r>
              <a:t>Security scans not universal</a:t>
            </a:r>
          </a:p>
          <a:p>
            <a:r>
              <a:t>Manual remediation processes</a:t>
            </a:r>
          </a:p>
          <a:p>
            <a:r>
              <a:t>CMP NEXT dependent on pipeline maturity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60–90 Day Priorities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Finalize CMP NEXT design</a:t>
            </a:r>
          </a:p>
          <a:p>
            <a:r>
              <a:t>Standardize pipelines with PR gating</a:t>
            </a:r>
          </a:p>
          <a:p>
            <a:r>
              <a:t>Centralize scan &amp; remediation tracking</a:t>
            </a:r>
          </a:p>
          <a:p>
            <a:r>
              <a:t>Quantify VM patching metrics monthly</a:t>
            </a:r>
          </a:p>
          <a:p>
            <a:r>
              <a:t>Prepare CCN project onboarding into same model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&amp; Security Progress (Current State)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Pipelines &amp; Automation — 55% (Amber)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943600" cy="32004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68980" cy="32004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745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Security Scanning &amp; Remediation — 45% (Amber)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5943600" cy="32004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148840"/>
            <a:ext cx="2674620" cy="32004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Configuration Management — 40% (Red)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34640"/>
            <a:ext cx="5943600" cy="32004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834640"/>
            <a:ext cx="2377440" cy="32004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2461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Monitoring — 60% (Green)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20440"/>
            <a:ext cx="5943600" cy="32004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520440"/>
            <a:ext cx="3566160" cy="32004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9319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CMP (Current → NEXT) — 55% (Amber)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06240"/>
            <a:ext cx="5943600" cy="32004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4206240"/>
            <a:ext cx="3268980" cy="32004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&amp; Security Progress (Current State)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Pipelines &amp; Automation — 55% (Amber)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943600" cy="32004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68980" cy="32004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745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Security Scanning &amp; Remediation — 45% (Amber)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5943600" cy="32004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148840"/>
            <a:ext cx="2674620" cy="32004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Configuration Management — 40% (Red)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34640"/>
            <a:ext cx="5943600" cy="32004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834640"/>
            <a:ext cx="2377440" cy="32004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2461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Monitoring — 60% (Green)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20440"/>
            <a:ext cx="5943600" cy="32004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520440"/>
            <a:ext cx="3566160" cy="32004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9319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CMP (Current → NEXT) — 55% (Amber)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06240"/>
            <a:ext cx="5943600" cy="32004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4206240"/>
            <a:ext cx="3268980" cy="32004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